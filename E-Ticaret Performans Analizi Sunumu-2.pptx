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DM Sans Bold" pitchFamily="2" charset="77"/>
      <p:regular r:id="rId10"/>
      <p:bold r:id="rId11"/>
    </p:embeddedFont>
    <p:embeddedFont>
      <p:font typeface="Open Sans" panose="020B0606030504020204" pitchFamily="34" charset="0"/>
      <p:regular r:id="rId12"/>
      <p:italic r:id="rId13"/>
    </p:embeddedFont>
    <p:embeddedFont>
      <p:font typeface="Open Sans Bold"/>
      <p:regular r:id="rId14"/>
      <p:bold r:id="rId15"/>
    </p:embeddedFont>
    <p:embeddedFont>
      <p:font typeface="Open Sans Semi-Bold" pitchFamily="2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 autoAdjust="0"/>
    <p:restoredTop sz="94589" autoAdjust="0"/>
  </p:normalViewPr>
  <p:slideViewPr>
    <p:cSldViewPr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80171" y="5675783"/>
            <a:ext cx="7695782" cy="7611080"/>
          </a:xfrm>
          <a:custGeom>
            <a:avLst/>
            <a:gdLst/>
            <a:ahLst/>
            <a:cxnLst/>
            <a:rect l="l" t="t" r="r" b="b"/>
            <a:pathLst>
              <a:path w="7695782" h="7611080">
                <a:moveTo>
                  <a:pt x="0" y="0"/>
                </a:moveTo>
                <a:lnTo>
                  <a:pt x="7695782" y="0"/>
                </a:lnTo>
                <a:lnTo>
                  <a:pt x="7695782" y="7611079"/>
                </a:lnTo>
                <a:lnTo>
                  <a:pt x="0" y="76110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LV"/>
          </a:p>
        </p:txBody>
      </p:sp>
      <p:sp>
        <p:nvSpPr>
          <p:cNvPr id="3" name="TextBox 3"/>
          <p:cNvSpPr txBox="1"/>
          <p:nvPr/>
        </p:nvSpPr>
        <p:spPr>
          <a:xfrm>
            <a:off x="2682656" y="3270778"/>
            <a:ext cx="12922687" cy="346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10"/>
              </a:lnSpc>
            </a:pPr>
            <a:r>
              <a:rPr lang="en-US" sz="8262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E-TICARET OPERASYONEL PERFORMANS VE KÂRLILIK ANALIZI</a:t>
            </a:r>
          </a:p>
        </p:txBody>
      </p:sp>
      <p:sp>
        <p:nvSpPr>
          <p:cNvPr id="4" name="Freeform 4"/>
          <p:cNvSpPr/>
          <p:nvPr/>
        </p:nvSpPr>
        <p:spPr>
          <a:xfrm rot="5400000">
            <a:off x="8739732" y="9055156"/>
            <a:ext cx="808535" cy="406289"/>
          </a:xfrm>
          <a:custGeom>
            <a:avLst/>
            <a:gdLst/>
            <a:ahLst/>
            <a:cxnLst/>
            <a:rect l="l" t="t" r="r" b="b"/>
            <a:pathLst>
              <a:path w="808535" h="406289">
                <a:moveTo>
                  <a:pt x="0" y="0"/>
                </a:moveTo>
                <a:lnTo>
                  <a:pt x="808536" y="0"/>
                </a:lnTo>
                <a:lnTo>
                  <a:pt x="808536" y="406288"/>
                </a:lnTo>
                <a:lnTo>
                  <a:pt x="0" y="4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V"/>
          </a:p>
        </p:txBody>
      </p:sp>
      <p:sp>
        <p:nvSpPr>
          <p:cNvPr id="5" name="TextBox 5"/>
          <p:cNvSpPr txBox="1"/>
          <p:nvPr/>
        </p:nvSpPr>
        <p:spPr>
          <a:xfrm>
            <a:off x="5016263" y="7062713"/>
            <a:ext cx="8255474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Veri Odaklı Stratejik İnceleme Raporu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297567"/>
            <a:ext cx="13838224" cy="280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63"/>
              </a:lnSpc>
            </a:pPr>
            <a:r>
              <a:rPr lang="en-US" sz="781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GENEL BAKIŞ</a:t>
            </a:r>
          </a:p>
          <a:p>
            <a:pPr marL="0" lvl="0" indent="0" algn="l">
              <a:lnSpc>
                <a:spcPts val="7263"/>
              </a:lnSpc>
            </a:pPr>
            <a:r>
              <a:rPr lang="en-US" sz="781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ANA PERFORMANS GÖSTERGELERI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990600"/>
            <a:ext cx="2893128" cy="339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 b="1">
                <a:solidFill>
                  <a:srgbClr val="2B4AE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E-TICARET ANALIZI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918575"/>
            <a:ext cx="4294480" cy="339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 b="1">
                <a:solidFill>
                  <a:srgbClr val="2B4AE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KPI DASHBOARD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527789" y="8529242"/>
            <a:ext cx="12760211" cy="1757758"/>
            <a:chOff x="0" y="0"/>
            <a:chExt cx="17013615" cy="2343677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l="91" r="91"/>
            <a:stretch>
              <a:fillRect/>
            </a:stretch>
          </p:blipFill>
          <p:spPr>
            <a:xfrm>
              <a:off x="0" y="0"/>
              <a:ext cx="17013615" cy="2343677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 rot="-10800000">
            <a:off x="6718996" y="6162855"/>
            <a:ext cx="5174902" cy="1446823"/>
            <a:chOff x="0" y="0"/>
            <a:chExt cx="1362937" cy="3810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62937" cy="381056"/>
            </a:xfrm>
            <a:custGeom>
              <a:avLst/>
              <a:gdLst/>
              <a:ahLst/>
              <a:cxnLst/>
              <a:rect l="l" t="t" r="r" b="b"/>
              <a:pathLst>
                <a:path w="1362937" h="381056">
                  <a:moveTo>
                    <a:pt x="0" y="0"/>
                  </a:moveTo>
                  <a:lnTo>
                    <a:pt x="1362937" y="0"/>
                  </a:lnTo>
                  <a:lnTo>
                    <a:pt x="1362937" y="381056"/>
                  </a:lnTo>
                  <a:lnTo>
                    <a:pt x="0" y="3810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1362937" cy="409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6718996" y="7811477"/>
            <a:ext cx="5174902" cy="1446823"/>
            <a:chOff x="0" y="0"/>
            <a:chExt cx="1362937" cy="38105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62937" cy="381056"/>
            </a:xfrm>
            <a:custGeom>
              <a:avLst/>
              <a:gdLst/>
              <a:ahLst/>
              <a:cxnLst/>
              <a:rect l="l" t="t" r="r" b="b"/>
              <a:pathLst>
                <a:path w="1362937" h="381056">
                  <a:moveTo>
                    <a:pt x="0" y="0"/>
                  </a:moveTo>
                  <a:lnTo>
                    <a:pt x="1362937" y="0"/>
                  </a:lnTo>
                  <a:lnTo>
                    <a:pt x="1362937" y="381056"/>
                  </a:lnTo>
                  <a:lnTo>
                    <a:pt x="0" y="3810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362937" cy="409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5400000">
            <a:off x="6996345" y="6366329"/>
            <a:ext cx="1034227" cy="1034227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4A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LV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5400000">
            <a:off x="6996345" y="8014952"/>
            <a:ext cx="1034227" cy="1034227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4A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LV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323501" y="6406078"/>
            <a:ext cx="2872709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8"/>
              </a:lnSpc>
            </a:pPr>
            <a:r>
              <a:rPr lang="en-US" sz="2198" b="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Toplam Satış</a:t>
            </a:r>
          </a:p>
          <a:p>
            <a:pPr marL="0" lvl="0" indent="0" algn="l">
              <a:lnSpc>
                <a:spcPts val="2638"/>
              </a:lnSpc>
            </a:pPr>
            <a:r>
              <a:rPr lang="en-US" sz="2198" b="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27.635$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23501" y="8054700"/>
            <a:ext cx="2872709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8"/>
              </a:lnSpc>
            </a:pPr>
            <a:r>
              <a:rPr lang="en-US" sz="2198" b="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Toplam Sipariş</a:t>
            </a:r>
          </a:p>
          <a:p>
            <a:pPr marL="0" lvl="0" indent="0" algn="l">
              <a:lnSpc>
                <a:spcPts val="2638"/>
              </a:lnSpc>
            </a:pPr>
            <a:r>
              <a:rPr lang="en-US" sz="2198" b="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9.994 Adet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75435" y="6716755"/>
            <a:ext cx="476046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8"/>
              </a:lnSpc>
            </a:pPr>
            <a:r>
              <a:rPr lang="en-US" sz="2198" b="1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275435" y="8365378"/>
            <a:ext cx="476046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8"/>
              </a:lnSpc>
            </a:pPr>
            <a:r>
              <a:rPr lang="en-US" sz="2198" b="1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03</a:t>
            </a:r>
          </a:p>
        </p:txBody>
      </p:sp>
      <p:grpSp>
        <p:nvGrpSpPr>
          <p:cNvPr id="23" name="Group 23"/>
          <p:cNvGrpSpPr/>
          <p:nvPr/>
        </p:nvGrpSpPr>
        <p:grpSpPr>
          <a:xfrm rot="-10800000">
            <a:off x="12084398" y="6162855"/>
            <a:ext cx="5174902" cy="1446823"/>
            <a:chOff x="0" y="0"/>
            <a:chExt cx="1362937" cy="38105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62937" cy="381056"/>
            </a:xfrm>
            <a:custGeom>
              <a:avLst/>
              <a:gdLst/>
              <a:ahLst/>
              <a:cxnLst/>
              <a:rect l="l" t="t" r="r" b="b"/>
              <a:pathLst>
                <a:path w="1362937" h="381056">
                  <a:moveTo>
                    <a:pt x="0" y="0"/>
                  </a:moveTo>
                  <a:lnTo>
                    <a:pt x="1362937" y="0"/>
                  </a:lnTo>
                  <a:lnTo>
                    <a:pt x="1362937" y="381056"/>
                  </a:lnTo>
                  <a:lnTo>
                    <a:pt x="0" y="3810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362937" cy="409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 rot="-10800000">
            <a:off x="12084398" y="7808654"/>
            <a:ext cx="5174902" cy="1446823"/>
            <a:chOff x="0" y="0"/>
            <a:chExt cx="1362937" cy="38105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62937" cy="381056"/>
            </a:xfrm>
            <a:custGeom>
              <a:avLst/>
              <a:gdLst/>
              <a:ahLst/>
              <a:cxnLst/>
              <a:rect l="l" t="t" r="r" b="b"/>
              <a:pathLst>
                <a:path w="1362937" h="381056">
                  <a:moveTo>
                    <a:pt x="0" y="0"/>
                  </a:moveTo>
                  <a:lnTo>
                    <a:pt x="1362937" y="0"/>
                  </a:lnTo>
                  <a:lnTo>
                    <a:pt x="1362937" y="381056"/>
                  </a:lnTo>
                  <a:lnTo>
                    <a:pt x="0" y="3810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1362937" cy="409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 rot="5400000">
            <a:off x="12361747" y="6366329"/>
            <a:ext cx="1034227" cy="1034227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4A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LV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 rot="5400000">
            <a:off x="12361747" y="8012129"/>
            <a:ext cx="1034227" cy="1034227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4A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LV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3688903" y="6550068"/>
            <a:ext cx="2872709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8"/>
              </a:lnSpc>
            </a:pPr>
            <a:r>
              <a:rPr lang="en-US" sz="2198" b="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Toplam Kâr/Zarar</a:t>
            </a:r>
          </a:p>
          <a:p>
            <a:pPr marL="0" lvl="0" indent="0" algn="l">
              <a:lnSpc>
                <a:spcPts val="2638"/>
              </a:lnSpc>
            </a:pPr>
            <a:r>
              <a:rPr lang="en-US" sz="2198" b="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-22$ ⚠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688903" y="8195867"/>
            <a:ext cx="2872709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8"/>
              </a:lnSpc>
            </a:pPr>
            <a:r>
              <a:rPr lang="en-US" sz="2198" b="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Kârlılık Durumu</a:t>
            </a:r>
          </a:p>
          <a:p>
            <a:pPr marL="0" lvl="0" indent="0" algn="l">
              <a:lnSpc>
                <a:spcPts val="2638"/>
              </a:lnSpc>
            </a:pPr>
            <a:r>
              <a:rPr lang="en-US" sz="2198" b="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İyileştirme Gerekli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640837" y="6716755"/>
            <a:ext cx="476046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8"/>
              </a:lnSpc>
            </a:pPr>
            <a:r>
              <a:rPr lang="en-US" sz="2198" b="1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02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640837" y="8362555"/>
            <a:ext cx="476046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8"/>
              </a:lnSpc>
            </a:pPr>
            <a:r>
              <a:rPr lang="en-US" sz="2198" b="1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04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28700" y="6143805"/>
            <a:ext cx="3899596" cy="1009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8"/>
              </a:lnSpc>
              <a:spcBef>
                <a:spcPct val="0"/>
              </a:spcBef>
            </a:pPr>
            <a:r>
              <a:rPr lang="en-US" sz="14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Yüksek satış hacmine rağmen net kârlılıkta iyileştirme gerekmektedir. Mobilya kategorisi toplam kârı olumsuz etkilemektedir.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5175404" y="1028700"/>
            <a:ext cx="2083896" cy="772022"/>
            <a:chOff x="0" y="0"/>
            <a:chExt cx="548845" cy="20333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48845" cy="203331"/>
            </a:xfrm>
            <a:custGeom>
              <a:avLst/>
              <a:gdLst/>
              <a:ahLst/>
              <a:cxnLst/>
              <a:rect l="l" t="t" r="r" b="b"/>
              <a:pathLst>
                <a:path w="548845" h="203331">
                  <a:moveTo>
                    <a:pt x="0" y="0"/>
                  </a:moveTo>
                  <a:lnTo>
                    <a:pt x="548845" y="0"/>
                  </a:lnTo>
                  <a:lnTo>
                    <a:pt x="548845" y="203331"/>
                  </a:lnTo>
                  <a:lnTo>
                    <a:pt x="0" y="203331"/>
                  </a:ln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548845" cy="250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>
            <a:off x="16455746" y="1300806"/>
            <a:ext cx="481904" cy="227809"/>
          </a:xfrm>
          <a:custGeom>
            <a:avLst/>
            <a:gdLst/>
            <a:ahLst/>
            <a:cxnLst/>
            <a:rect l="l" t="t" r="r" b="b"/>
            <a:pathLst>
              <a:path w="481904" h="227809">
                <a:moveTo>
                  <a:pt x="0" y="0"/>
                </a:moveTo>
                <a:lnTo>
                  <a:pt x="481904" y="0"/>
                </a:lnTo>
                <a:lnTo>
                  <a:pt x="481904" y="227809"/>
                </a:lnTo>
                <a:lnTo>
                  <a:pt x="0" y="227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V"/>
          </a:p>
        </p:txBody>
      </p:sp>
      <p:sp>
        <p:nvSpPr>
          <p:cNvPr id="44" name="TextBox 44"/>
          <p:cNvSpPr txBox="1"/>
          <p:nvPr/>
        </p:nvSpPr>
        <p:spPr>
          <a:xfrm>
            <a:off x="15542114" y="1286123"/>
            <a:ext cx="364354" cy="23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98"/>
              </a:lnSpc>
              <a:spcBef>
                <a:spcPct val="0"/>
              </a:spcBef>
            </a:pPr>
            <a:r>
              <a:rPr lang="en-US" sz="149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151179"/>
            <a:ext cx="16230600" cy="2284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50"/>
              </a:lnSpc>
            </a:pPr>
            <a:r>
              <a:rPr lang="en-US" sz="940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KATEGORILERIN</a:t>
            </a:r>
          </a:p>
          <a:p>
            <a:pPr marL="0" lvl="0" indent="0" algn="l">
              <a:lnSpc>
                <a:spcPts val="8750"/>
              </a:lnSpc>
            </a:pPr>
            <a:r>
              <a:rPr lang="en-US" sz="940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FINANSAL DURUMU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990600"/>
            <a:ext cx="2893128" cy="586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9"/>
              </a:lnSpc>
              <a:spcBef>
                <a:spcPct val="0"/>
              </a:spcBef>
            </a:pPr>
            <a:r>
              <a:rPr lang="en-US" sz="1663" b="1">
                <a:solidFill>
                  <a:srgbClr val="2B4AE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E-TICARET PERFORMANS ANALIZI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918575"/>
            <a:ext cx="4294480" cy="291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9"/>
              </a:lnSpc>
              <a:spcBef>
                <a:spcPct val="0"/>
              </a:spcBef>
            </a:pPr>
            <a:r>
              <a:rPr lang="en-US" sz="1663" b="1">
                <a:solidFill>
                  <a:srgbClr val="2B4AE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STRATEJIK İNCELEME RAPORU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494929" y="4762500"/>
            <a:ext cx="11764371" cy="4572000"/>
            <a:chOff x="0" y="0"/>
            <a:chExt cx="15685828" cy="609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685829" cy="6096000"/>
            </a:xfrm>
            <a:custGeom>
              <a:avLst/>
              <a:gdLst/>
              <a:ahLst/>
              <a:cxnLst/>
              <a:rect l="l" t="t" r="r" b="b"/>
              <a:pathLst>
                <a:path w="15685829" h="6096000">
                  <a:moveTo>
                    <a:pt x="818391" y="0"/>
                  </a:moveTo>
                  <a:lnTo>
                    <a:pt x="14867437" y="0"/>
                  </a:lnTo>
                  <a:cubicBezTo>
                    <a:pt x="15319422" y="0"/>
                    <a:pt x="15685829" y="272927"/>
                    <a:pt x="15685829" y="609600"/>
                  </a:cubicBezTo>
                  <a:lnTo>
                    <a:pt x="15685829" y="5486400"/>
                  </a:lnTo>
                  <a:cubicBezTo>
                    <a:pt x="15685829" y="5823073"/>
                    <a:pt x="15319422" y="6096000"/>
                    <a:pt x="14867437" y="6096000"/>
                  </a:cubicBezTo>
                  <a:lnTo>
                    <a:pt x="818391" y="6096000"/>
                  </a:lnTo>
                  <a:cubicBezTo>
                    <a:pt x="366406" y="6096000"/>
                    <a:pt x="0" y="5823073"/>
                    <a:pt x="0" y="5486400"/>
                  </a:cubicBezTo>
                  <a:lnTo>
                    <a:pt x="0" y="609600"/>
                  </a:lnTo>
                  <a:cubicBezTo>
                    <a:pt x="0" y="272927"/>
                    <a:pt x="366406" y="0"/>
                    <a:pt x="818391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685828" cy="613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15500" y="5048250"/>
            <a:ext cx="114300" cy="114300"/>
            <a:chOff x="0" y="0"/>
            <a:chExt cx="152400" cy="152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52400" cy="19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858375" y="5010150"/>
            <a:ext cx="5715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Satış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382250" y="5048250"/>
            <a:ext cx="114300" cy="114300"/>
            <a:chOff x="0" y="0"/>
            <a:chExt cx="152400" cy="152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52400" cy="19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525125" y="5010150"/>
            <a:ext cx="5715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Kâr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049000" y="5048250"/>
            <a:ext cx="114300" cy="114300"/>
            <a:chOff x="0" y="0"/>
            <a:chExt cx="152400" cy="152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E53935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52400" cy="19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191875" y="5010150"/>
            <a:ext cx="5715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Zarar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5175404" y="9465323"/>
            <a:ext cx="2083896" cy="772022"/>
            <a:chOff x="0" y="0"/>
            <a:chExt cx="548845" cy="20333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48845" cy="203331"/>
            </a:xfrm>
            <a:custGeom>
              <a:avLst/>
              <a:gdLst/>
              <a:ahLst/>
              <a:cxnLst/>
              <a:rect l="l" t="t" r="r" b="b"/>
              <a:pathLst>
                <a:path w="548845" h="203331">
                  <a:moveTo>
                    <a:pt x="0" y="0"/>
                  </a:moveTo>
                  <a:lnTo>
                    <a:pt x="548845" y="0"/>
                  </a:lnTo>
                  <a:lnTo>
                    <a:pt x="548845" y="203331"/>
                  </a:lnTo>
                  <a:lnTo>
                    <a:pt x="0" y="203331"/>
                  </a:ln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548845" cy="250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6217352" y="9741783"/>
            <a:ext cx="481904" cy="227809"/>
          </a:xfrm>
          <a:custGeom>
            <a:avLst/>
            <a:gdLst/>
            <a:ahLst/>
            <a:cxnLst/>
            <a:rect l="l" t="t" r="r" b="b"/>
            <a:pathLst>
              <a:path w="481904" h="227809">
                <a:moveTo>
                  <a:pt x="0" y="0"/>
                </a:moveTo>
                <a:lnTo>
                  <a:pt x="481904" y="0"/>
                </a:lnTo>
                <a:lnTo>
                  <a:pt x="481904" y="227809"/>
                </a:lnTo>
                <a:lnTo>
                  <a:pt x="0" y="227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V"/>
          </a:p>
        </p:txBody>
      </p:sp>
      <p:sp>
        <p:nvSpPr>
          <p:cNvPr id="24" name="TextBox 24"/>
          <p:cNvSpPr txBox="1"/>
          <p:nvPr/>
        </p:nvSpPr>
        <p:spPr>
          <a:xfrm>
            <a:off x="15486448" y="9722733"/>
            <a:ext cx="364354" cy="23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98"/>
              </a:lnSpc>
              <a:spcBef>
                <a:spcPct val="0"/>
              </a:spcBef>
            </a:pPr>
            <a:r>
              <a:rPr lang="en-US" sz="149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4425" y="5013960"/>
            <a:ext cx="3981450" cy="1212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0"/>
              </a:lnSpc>
              <a:spcBef>
                <a:spcPct val="0"/>
              </a:spcBef>
            </a:pPr>
            <a:r>
              <a:rPr lang="en-US" sz="1764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Mobilya kategorisindeki 420$'lık zarar, toplam kârı olumsuz etkilemektedir. Teknoloji kategorisi satışların büyük bölümünü oluşturmaktadır.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686550" y="5429250"/>
            <a:ext cx="666750" cy="3143250"/>
            <a:chOff x="0" y="0"/>
            <a:chExt cx="889000" cy="4191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89000" cy="4191000"/>
            </a:xfrm>
            <a:custGeom>
              <a:avLst/>
              <a:gdLst/>
              <a:ahLst/>
              <a:cxnLst/>
              <a:rect l="l" t="t" r="r" b="b"/>
              <a:pathLst>
                <a:path w="889000" h="4191000">
                  <a:moveTo>
                    <a:pt x="0" y="0"/>
                  </a:moveTo>
                  <a:lnTo>
                    <a:pt x="889000" y="0"/>
                  </a:lnTo>
                  <a:lnTo>
                    <a:pt x="889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889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477000" y="5184267"/>
            <a:ext cx="1143000" cy="197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22"/>
              </a:lnSpc>
              <a:spcBef>
                <a:spcPct val="0"/>
              </a:spcBef>
            </a:pPr>
            <a:r>
              <a:rPr lang="en-US" sz="1230" u="none" strike="noStrike">
                <a:solidFill>
                  <a:srgbClr val="2B4AEF"/>
                </a:solidFill>
                <a:latin typeface="Open Sans"/>
                <a:ea typeface="Open Sans"/>
                <a:cs typeface="Open Sans"/>
                <a:sym typeface="Open Sans"/>
              </a:rPr>
              <a:t>23.721$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505700" y="8458200"/>
            <a:ext cx="666750" cy="114300"/>
            <a:chOff x="0" y="0"/>
            <a:chExt cx="889000" cy="152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89000" cy="152400"/>
            </a:xfrm>
            <a:custGeom>
              <a:avLst/>
              <a:gdLst/>
              <a:ahLst/>
              <a:cxnLst/>
              <a:rect l="l" t="t" r="r" b="b"/>
              <a:pathLst>
                <a:path w="889000" h="152400">
                  <a:moveTo>
                    <a:pt x="0" y="0"/>
                  </a:moveTo>
                  <a:lnTo>
                    <a:pt x="889000" y="0"/>
                  </a:lnTo>
                  <a:lnTo>
                    <a:pt x="889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889000" cy="19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239000" y="8210550"/>
            <a:ext cx="1143000" cy="197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22"/>
              </a:lnSpc>
              <a:spcBef>
                <a:spcPct val="0"/>
              </a:spcBef>
            </a:pPr>
            <a:r>
              <a:rPr lang="en-US" sz="1230" u="none" strike="noStrike">
                <a:solidFill>
                  <a:srgbClr val="34A853"/>
                </a:solidFill>
                <a:latin typeface="Open Sans"/>
                <a:ea typeface="Open Sans"/>
                <a:cs typeface="Open Sans"/>
                <a:sym typeface="Open Sans"/>
              </a:rPr>
              <a:t>+297$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77000" y="8639175"/>
            <a:ext cx="1905000" cy="239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22"/>
              </a:lnSpc>
              <a:spcBef>
                <a:spcPct val="0"/>
              </a:spcBef>
            </a:pPr>
            <a:r>
              <a:rPr lang="en-US" sz="1444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Teknoloji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734550" y="8258175"/>
            <a:ext cx="666750" cy="314325"/>
            <a:chOff x="0" y="0"/>
            <a:chExt cx="889000" cy="4191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89000" cy="419100"/>
            </a:xfrm>
            <a:custGeom>
              <a:avLst/>
              <a:gdLst/>
              <a:ahLst/>
              <a:cxnLst/>
              <a:rect l="l" t="t" r="r" b="b"/>
              <a:pathLst>
                <a:path w="889000" h="419100">
                  <a:moveTo>
                    <a:pt x="0" y="0"/>
                  </a:moveTo>
                  <a:lnTo>
                    <a:pt x="889000" y="0"/>
                  </a:lnTo>
                  <a:lnTo>
                    <a:pt x="88900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8890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9525000" y="8032242"/>
            <a:ext cx="1143000" cy="197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22"/>
              </a:lnSpc>
              <a:spcBef>
                <a:spcPct val="0"/>
              </a:spcBef>
            </a:pPr>
            <a:r>
              <a:rPr lang="en-US" sz="1230" u="none" strike="noStrike">
                <a:solidFill>
                  <a:srgbClr val="2B4AEF"/>
                </a:solidFill>
                <a:latin typeface="Open Sans"/>
                <a:ea typeface="Open Sans"/>
                <a:cs typeface="Open Sans"/>
                <a:sym typeface="Open Sans"/>
              </a:rPr>
              <a:t>2.381$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0553700" y="8458200"/>
            <a:ext cx="666750" cy="114300"/>
            <a:chOff x="0" y="0"/>
            <a:chExt cx="889000" cy="1524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89000" cy="152400"/>
            </a:xfrm>
            <a:custGeom>
              <a:avLst/>
              <a:gdLst/>
              <a:ahLst/>
              <a:cxnLst/>
              <a:rect l="l" t="t" r="r" b="b"/>
              <a:pathLst>
                <a:path w="889000" h="152400">
                  <a:moveTo>
                    <a:pt x="0" y="0"/>
                  </a:moveTo>
                  <a:lnTo>
                    <a:pt x="889000" y="0"/>
                  </a:lnTo>
                  <a:lnTo>
                    <a:pt x="889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889000" cy="19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0315575" y="8239125"/>
            <a:ext cx="1143000" cy="197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22"/>
              </a:lnSpc>
              <a:spcBef>
                <a:spcPct val="0"/>
              </a:spcBef>
            </a:pPr>
            <a:r>
              <a:rPr lang="en-US" sz="1230" u="none" strike="noStrike">
                <a:solidFill>
                  <a:srgbClr val="34A853"/>
                </a:solidFill>
                <a:latin typeface="Open Sans"/>
                <a:ea typeface="Open Sans"/>
                <a:cs typeface="Open Sans"/>
                <a:sym typeface="Open Sans"/>
              </a:rPr>
              <a:t>+101$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525000" y="8639175"/>
            <a:ext cx="1905000" cy="239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22"/>
              </a:lnSpc>
              <a:spcBef>
                <a:spcPct val="0"/>
              </a:spcBef>
            </a:pPr>
            <a:r>
              <a:rPr lang="en-US" sz="1444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Ofis Malzemeleri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2782550" y="8372475"/>
            <a:ext cx="666750" cy="200025"/>
            <a:chOff x="0" y="0"/>
            <a:chExt cx="889000" cy="2667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89000" cy="266700"/>
            </a:xfrm>
            <a:custGeom>
              <a:avLst/>
              <a:gdLst/>
              <a:ahLst/>
              <a:cxnLst/>
              <a:rect l="l" t="t" r="r" b="b"/>
              <a:pathLst>
                <a:path w="889000" h="266700">
                  <a:moveTo>
                    <a:pt x="0" y="0"/>
                  </a:moveTo>
                  <a:lnTo>
                    <a:pt x="889000" y="0"/>
                  </a:lnTo>
                  <a:lnTo>
                    <a:pt x="889000" y="26670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889000" cy="304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2601575" y="8121396"/>
            <a:ext cx="1143000" cy="197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22"/>
              </a:lnSpc>
              <a:spcBef>
                <a:spcPct val="0"/>
              </a:spcBef>
            </a:pPr>
            <a:r>
              <a:rPr lang="en-US" sz="1230" u="none" strike="noStrike">
                <a:solidFill>
                  <a:srgbClr val="2B4AEF"/>
                </a:solidFill>
                <a:latin typeface="Open Sans"/>
                <a:ea typeface="Open Sans"/>
                <a:cs typeface="Open Sans"/>
                <a:sym typeface="Open Sans"/>
              </a:rPr>
              <a:t>1.533$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3601700" y="8458200"/>
            <a:ext cx="666750" cy="114300"/>
            <a:chOff x="0" y="0"/>
            <a:chExt cx="889000" cy="1524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89000" cy="152400"/>
            </a:xfrm>
            <a:custGeom>
              <a:avLst/>
              <a:gdLst/>
              <a:ahLst/>
              <a:cxnLst/>
              <a:rect l="l" t="t" r="r" b="b"/>
              <a:pathLst>
                <a:path w="889000" h="152400">
                  <a:moveTo>
                    <a:pt x="0" y="0"/>
                  </a:moveTo>
                  <a:lnTo>
                    <a:pt x="889000" y="0"/>
                  </a:lnTo>
                  <a:lnTo>
                    <a:pt x="889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E53935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889000" cy="19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3335000" y="8217982"/>
            <a:ext cx="1143000" cy="197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22"/>
              </a:lnSpc>
              <a:spcBef>
                <a:spcPct val="0"/>
              </a:spcBef>
            </a:pPr>
            <a:r>
              <a:rPr lang="en-US" sz="1230" u="none" strike="noStrike">
                <a:solidFill>
                  <a:srgbClr val="E53935"/>
                </a:solidFill>
                <a:latin typeface="Open Sans"/>
                <a:ea typeface="Open Sans"/>
                <a:cs typeface="Open Sans"/>
                <a:sym typeface="Open Sans"/>
              </a:rPr>
              <a:t>-420$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573000" y="8639175"/>
            <a:ext cx="1905000" cy="239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22"/>
              </a:lnSpc>
              <a:spcBef>
                <a:spcPct val="0"/>
              </a:spcBef>
            </a:pPr>
            <a:r>
              <a:rPr lang="en-US" sz="1444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Mobilya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76776" y="2562456"/>
            <a:ext cx="6470410" cy="6882468"/>
            <a:chOff x="0" y="0"/>
            <a:chExt cx="1704141" cy="18126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04141" cy="1812666"/>
            </a:xfrm>
            <a:custGeom>
              <a:avLst/>
              <a:gdLst/>
              <a:ahLst/>
              <a:cxnLst/>
              <a:rect l="l" t="t" r="r" b="b"/>
              <a:pathLst>
                <a:path w="1704141" h="1812666">
                  <a:moveTo>
                    <a:pt x="0" y="0"/>
                  </a:moveTo>
                  <a:lnTo>
                    <a:pt x="1704141" y="0"/>
                  </a:lnTo>
                  <a:lnTo>
                    <a:pt x="1704141" y="1812666"/>
                  </a:lnTo>
                  <a:lnTo>
                    <a:pt x="0" y="18126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704141" cy="1860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175404" y="1028700"/>
            <a:ext cx="2083896" cy="772022"/>
            <a:chOff x="0" y="0"/>
            <a:chExt cx="548845" cy="2033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8845" cy="203331"/>
            </a:xfrm>
            <a:custGeom>
              <a:avLst/>
              <a:gdLst/>
              <a:ahLst/>
              <a:cxnLst/>
              <a:rect l="l" t="t" r="r" b="b"/>
              <a:pathLst>
                <a:path w="548845" h="203331">
                  <a:moveTo>
                    <a:pt x="0" y="0"/>
                  </a:moveTo>
                  <a:lnTo>
                    <a:pt x="548845" y="0"/>
                  </a:lnTo>
                  <a:lnTo>
                    <a:pt x="548845" y="203331"/>
                  </a:lnTo>
                  <a:lnTo>
                    <a:pt x="0" y="203331"/>
                  </a:ln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48845" cy="250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455746" y="1300806"/>
            <a:ext cx="481904" cy="227809"/>
          </a:xfrm>
          <a:custGeom>
            <a:avLst/>
            <a:gdLst/>
            <a:ahLst/>
            <a:cxnLst/>
            <a:rect l="l" t="t" r="r" b="b"/>
            <a:pathLst>
              <a:path w="481904" h="227809">
                <a:moveTo>
                  <a:pt x="0" y="0"/>
                </a:moveTo>
                <a:lnTo>
                  <a:pt x="481904" y="0"/>
                </a:lnTo>
                <a:lnTo>
                  <a:pt x="481904" y="227809"/>
                </a:lnTo>
                <a:lnTo>
                  <a:pt x="0" y="227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V"/>
          </a:p>
        </p:txBody>
      </p:sp>
      <p:sp>
        <p:nvSpPr>
          <p:cNvPr id="9" name="AutoShape 9"/>
          <p:cNvSpPr/>
          <p:nvPr/>
        </p:nvSpPr>
        <p:spPr>
          <a:xfrm flipV="1">
            <a:off x="10684189" y="4652742"/>
            <a:ext cx="0" cy="2289993"/>
          </a:xfrm>
          <a:prstGeom prst="line">
            <a:avLst/>
          </a:prstGeom>
          <a:ln w="9525" cap="flat">
            <a:solidFill>
              <a:srgbClr val="2B4AE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V"/>
          </a:p>
        </p:txBody>
      </p:sp>
      <p:grpSp>
        <p:nvGrpSpPr>
          <p:cNvPr id="10" name="Group 10"/>
          <p:cNvGrpSpPr/>
          <p:nvPr/>
        </p:nvGrpSpPr>
        <p:grpSpPr>
          <a:xfrm>
            <a:off x="10541812" y="4652742"/>
            <a:ext cx="275228" cy="27522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541812" y="5323436"/>
            <a:ext cx="275228" cy="27522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541812" y="6003690"/>
            <a:ext cx="275228" cy="275228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541812" y="6690821"/>
            <a:ext cx="275228" cy="275228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2335667"/>
            <a:ext cx="7079123" cy="4494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56"/>
              </a:lnSpc>
            </a:pPr>
            <a:r>
              <a:rPr lang="en-US" sz="9415" b="1">
                <a:solidFill>
                  <a:srgbClr val="2B4AEF"/>
                </a:solidFill>
                <a:latin typeface="DM Sans Bold"/>
                <a:ea typeface="DM Sans Bold"/>
                <a:cs typeface="DM Sans Bold"/>
                <a:sym typeface="DM Sans Bold"/>
              </a:rPr>
              <a:t>ÜRÜN</a:t>
            </a:r>
          </a:p>
          <a:p>
            <a:pPr marL="0" lvl="0" indent="0" algn="l">
              <a:lnSpc>
                <a:spcPts val="8756"/>
              </a:lnSpc>
            </a:pPr>
            <a:r>
              <a:rPr lang="en-US" sz="9415" b="1">
                <a:solidFill>
                  <a:srgbClr val="2B4AEF"/>
                </a:solidFill>
                <a:latin typeface="DM Sans Bold"/>
                <a:ea typeface="DM Sans Bold"/>
                <a:cs typeface="DM Sans Bold"/>
                <a:sym typeface="DM Sans Bold"/>
              </a:rPr>
              <a:t>BAZLI</a:t>
            </a:r>
          </a:p>
          <a:p>
            <a:pPr marL="0" lvl="0" indent="0" algn="l">
              <a:lnSpc>
                <a:spcPts val="8756"/>
              </a:lnSpc>
            </a:pPr>
            <a:r>
              <a:rPr lang="en-US" sz="9415" b="1">
                <a:solidFill>
                  <a:srgbClr val="2B4AEF"/>
                </a:solidFill>
                <a:latin typeface="DM Sans Bold"/>
                <a:ea typeface="DM Sans Bold"/>
                <a:cs typeface="DM Sans Bold"/>
                <a:sym typeface="DM Sans Bold"/>
              </a:rPr>
              <a:t>CIRO</a:t>
            </a:r>
          </a:p>
          <a:p>
            <a:pPr marL="0" lvl="0" indent="0" algn="l">
              <a:lnSpc>
                <a:spcPts val="8756"/>
              </a:lnSpc>
            </a:pPr>
            <a:r>
              <a:rPr lang="en-US" sz="9415" b="1">
                <a:solidFill>
                  <a:srgbClr val="2B4AEF"/>
                </a:solidFill>
                <a:latin typeface="DM Sans Bold"/>
                <a:ea typeface="DM Sans Bold"/>
                <a:cs typeface="DM Sans Bold"/>
                <a:sym typeface="DM Sans Bold"/>
              </a:rPr>
              <a:t>LIDERLERI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990600"/>
            <a:ext cx="2893128" cy="339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 b="1">
                <a:solidFill>
                  <a:srgbClr val="2B4AE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E-TICARET ANALIZI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8918575"/>
            <a:ext cx="4294480" cy="339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 b="1">
                <a:solidFill>
                  <a:srgbClr val="2B4AE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VERI ODAKLI STRATEJIK RAPOR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41812" y="2852499"/>
            <a:ext cx="5320210" cy="617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yüksek ciroyu oluşturan ürünler analiz edildiğinde, Cisco IP Phone grubunun toplam ciro içindeki %15'lik payı öne çıkmaktadır. WD My Passport ve HP Deskjet ürünleri de güçlü performans sergilemektedir.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542114" y="1286123"/>
            <a:ext cx="36435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002813" y="4652742"/>
            <a:ext cx="2716092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40"/>
              </a:lnSpc>
            </a:pPr>
            <a:r>
              <a:rPr lang="en-US" sz="1200" b="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Cisco 9971 IP Phone — 4.268$ (%15 pay)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002813" y="5339873"/>
            <a:ext cx="3747258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40"/>
              </a:lnSpc>
            </a:pPr>
            <a:r>
              <a:rPr lang="en-US" sz="1200" b="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WD My Passport 2TB — 3.332$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002813" y="6027004"/>
            <a:ext cx="3974296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40"/>
              </a:lnSpc>
            </a:pPr>
            <a:r>
              <a:rPr lang="en-US" sz="1200" b="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HP Deskjet 3050a — 3.040$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0620375" y="7096125"/>
            <a:ext cx="95250" cy="95250"/>
            <a:chOff x="0" y="0"/>
            <a:chExt cx="127000" cy="127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001375" y="7029450"/>
            <a:ext cx="47625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Hewlett-Packard Deskjet F4180 — 2.148$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620375" y="7362825"/>
            <a:ext cx="95250" cy="95250"/>
            <a:chOff x="0" y="0"/>
            <a:chExt cx="127000" cy="127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001375" y="7296150"/>
            <a:ext cx="47625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Wilson Electronics Signal Boost — 1.780$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0620375" y="7629525"/>
            <a:ext cx="95250" cy="95250"/>
            <a:chOff x="0" y="0"/>
            <a:chExt cx="127000" cy="1270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001375" y="7562850"/>
            <a:ext cx="47625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Plantronics Voyager Pro — 1.564$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0620375" y="7896225"/>
            <a:ext cx="95250" cy="95250"/>
            <a:chOff x="0" y="0"/>
            <a:chExt cx="127000" cy="1270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001375" y="7829550"/>
            <a:ext cx="47625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Motorola SB6141 Modem — 1.440$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0620375" y="8162925"/>
            <a:ext cx="95250" cy="95250"/>
            <a:chOff x="0" y="0"/>
            <a:chExt cx="127000" cy="1270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001375" y="8096250"/>
            <a:ext cx="47625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Nokia Smart TV 55" — 1.320$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0620375" y="8429625"/>
            <a:ext cx="95250" cy="95250"/>
            <a:chOff x="0" y="0"/>
            <a:chExt cx="127000" cy="1270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1001375" y="8362950"/>
            <a:ext cx="47625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Logitech G502 Mouse — 1.185$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10620375" y="8696325"/>
            <a:ext cx="95250" cy="95250"/>
            <a:chOff x="0" y="0"/>
            <a:chExt cx="127000" cy="1270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1001375" y="8629650"/>
            <a:ext cx="47625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Samsung Galaxy Tab A — 1.098$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335667"/>
            <a:ext cx="12682885" cy="2285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56"/>
              </a:lnSpc>
            </a:pPr>
            <a:r>
              <a:rPr lang="en-US" sz="9415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COĞRAFI PAZAR</a:t>
            </a:r>
          </a:p>
          <a:p>
            <a:pPr marL="0" lvl="0" indent="0" algn="l">
              <a:lnSpc>
                <a:spcPts val="8756"/>
              </a:lnSpc>
            </a:pPr>
            <a:r>
              <a:rPr lang="en-US" sz="9415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DAĞILIMI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990600"/>
            <a:ext cx="2893128" cy="339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 b="1">
                <a:solidFill>
                  <a:srgbClr val="2B4AE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E-TICARET ANALIZI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84731" y="990600"/>
            <a:ext cx="4294480" cy="339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 b="1">
                <a:solidFill>
                  <a:srgbClr val="2B4AE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BÖLGESEL PERFORMANS</a:t>
            </a: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7169032" y="6242547"/>
            <a:ext cx="6301336" cy="3015753"/>
            <a:chOff x="0" y="0"/>
            <a:chExt cx="1659611" cy="7942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59611" cy="794272"/>
            </a:xfrm>
            <a:custGeom>
              <a:avLst/>
              <a:gdLst/>
              <a:ahLst/>
              <a:cxnLst/>
              <a:rect l="l" t="t" r="r" b="b"/>
              <a:pathLst>
                <a:path w="1659611" h="794272">
                  <a:moveTo>
                    <a:pt x="0" y="0"/>
                  </a:moveTo>
                  <a:lnTo>
                    <a:pt x="1659611" y="0"/>
                  </a:lnTo>
                  <a:lnTo>
                    <a:pt x="1659611" y="794272"/>
                  </a:lnTo>
                  <a:lnTo>
                    <a:pt x="0" y="7942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59611" cy="822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659595" y="6697041"/>
            <a:ext cx="5320210" cy="75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8"/>
              </a:lnSpc>
              <a:spcBef>
                <a:spcPct val="0"/>
              </a:spcBef>
            </a:pPr>
            <a:r>
              <a:rPr lang="en-US" sz="14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Batı ve Doğu bölgeleri toplam siparişlerin %63'ünü oluşturmaktadır. Bu iki bölge, operasyonel kapasite ve lojistik altyapı açısından belirleyici konumdadır.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59595" y="8003707"/>
            <a:ext cx="5320210" cy="75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8"/>
              </a:lnSpc>
              <a:spcBef>
                <a:spcPct val="0"/>
              </a:spcBef>
            </a:pPr>
            <a:r>
              <a:rPr lang="en-US" sz="14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Güney bölgesinin düşük sipariş hacmi, pazar genişletme fırsatına işaret etmektedir. Bölgesel dağılımın dengelenmesi stratejik öncelik taşımaktadır.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175404" y="1028700"/>
            <a:ext cx="2083896" cy="772022"/>
            <a:chOff x="0" y="0"/>
            <a:chExt cx="548845" cy="2033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48845" cy="203331"/>
            </a:xfrm>
            <a:custGeom>
              <a:avLst/>
              <a:gdLst/>
              <a:ahLst/>
              <a:cxnLst/>
              <a:rect l="l" t="t" r="r" b="b"/>
              <a:pathLst>
                <a:path w="548845" h="203331">
                  <a:moveTo>
                    <a:pt x="0" y="0"/>
                  </a:moveTo>
                  <a:lnTo>
                    <a:pt x="548845" y="0"/>
                  </a:lnTo>
                  <a:lnTo>
                    <a:pt x="548845" y="203331"/>
                  </a:lnTo>
                  <a:lnTo>
                    <a:pt x="0" y="203331"/>
                  </a:ln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48845" cy="250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6455746" y="1300806"/>
            <a:ext cx="481904" cy="227809"/>
          </a:xfrm>
          <a:custGeom>
            <a:avLst/>
            <a:gdLst/>
            <a:ahLst/>
            <a:cxnLst/>
            <a:rect l="l" t="t" r="r" b="b"/>
            <a:pathLst>
              <a:path w="481904" h="227809">
                <a:moveTo>
                  <a:pt x="0" y="0"/>
                </a:moveTo>
                <a:lnTo>
                  <a:pt x="481904" y="0"/>
                </a:lnTo>
                <a:lnTo>
                  <a:pt x="481904" y="227809"/>
                </a:lnTo>
                <a:lnTo>
                  <a:pt x="0" y="227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V"/>
          </a:p>
        </p:txBody>
      </p:sp>
      <p:sp>
        <p:nvSpPr>
          <p:cNvPr id="14" name="TextBox 14"/>
          <p:cNvSpPr txBox="1"/>
          <p:nvPr/>
        </p:nvSpPr>
        <p:spPr>
          <a:xfrm>
            <a:off x="15542114" y="1286123"/>
            <a:ext cx="364354" cy="23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98"/>
              </a:lnSpc>
              <a:spcBef>
                <a:spcPct val="0"/>
              </a:spcBef>
            </a:pPr>
            <a:r>
              <a:rPr lang="en-US" sz="149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05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1171077" y="6588137"/>
            <a:ext cx="0" cy="2289993"/>
          </a:xfrm>
          <a:prstGeom prst="line">
            <a:avLst/>
          </a:prstGeom>
          <a:ln w="9525" cap="flat">
            <a:solidFill>
              <a:srgbClr val="2B4AE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V"/>
          </a:p>
        </p:txBody>
      </p:sp>
      <p:grpSp>
        <p:nvGrpSpPr>
          <p:cNvPr id="16" name="Group 16"/>
          <p:cNvGrpSpPr/>
          <p:nvPr/>
        </p:nvGrpSpPr>
        <p:grpSpPr>
          <a:xfrm>
            <a:off x="1028700" y="6588137"/>
            <a:ext cx="275228" cy="275228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28700" y="7258830"/>
            <a:ext cx="275228" cy="275228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28700" y="7939085"/>
            <a:ext cx="275228" cy="275228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28700" y="8626216"/>
            <a:ext cx="275228" cy="275228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489701" y="6597662"/>
            <a:ext cx="2716092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8"/>
              </a:lnSpc>
            </a:pPr>
            <a:r>
              <a:rPr lang="en-US" sz="1498" b="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Batı Bölgesi: 3.203 Sipariş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173325" y="2352675"/>
            <a:ext cx="28575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Sipariş Dağılımı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4287500" y="2857500"/>
            <a:ext cx="1066800" cy="342900"/>
            <a:chOff x="0" y="0"/>
            <a:chExt cx="1422400" cy="457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22400" cy="457200"/>
            </a:xfrm>
            <a:custGeom>
              <a:avLst/>
              <a:gdLst/>
              <a:ahLst/>
              <a:cxnLst/>
              <a:rect l="l" t="t" r="r" b="b"/>
              <a:pathLst>
                <a:path w="1422400" h="457200">
                  <a:moveTo>
                    <a:pt x="45720" y="0"/>
                  </a:moveTo>
                  <a:lnTo>
                    <a:pt x="1376680" y="0"/>
                  </a:lnTo>
                  <a:cubicBezTo>
                    <a:pt x="1401931" y="0"/>
                    <a:pt x="1422400" y="20470"/>
                    <a:pt x="1422400" y="45720"/>
                  </a:cubicBezTo>
                  <a:lnTo>
                    <a:pt x="1422400" y="411480"/>
                  </a:lnTo>
                  <a:cubicBezTo>
                    <a:pt x="1422400" y="436730"/>
                    <a:pt x="1401931" y="457200"/>
                    <a:pt x="1376680" y="457200"/>
                  </a:cubicBezTo>
                  <a:lnTo>
                    <a:pt x="45720" y="457200"/>
                  </a:lnTo>
                  <a:cubicBezTo>
                    <a:pt x="20470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422400" cy="495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4287500" y="3619500"/>
            <a:ext cx="942975" cy="342900"/>
            <a:chOff x="0" y="0"/>
            <a:chExt cx="1257300" cy="4572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57300" cy="457200"/>
            </a:xfrm>
            <a:custGeom>
              <a:avLst/>
              <a:gdLst/>
              <a:ahLst/>
              <a:cxnLst/>
              <a:rect l="l" t="t" r="r" b="b"/>
              <a:pathLst>
                <a:path w="1257300" h="457200">
                  <a:moveTo>
                    <a:pt x="45720" y="0"/>
                  </a:moveTo>
                  <a:lnTo>
                    <a:pt x="1211580" y="0"/>
                  </a:lnTo>
                  <a:cubicBezTo>
                    <a:pt x="1236831" y="0"/>
                    <a:pt x="1257300" y="20470"/>
                    <a:pt x="1257300" y="45720"/>
                  </a:cubicBezTo>
                  <a:lnTo>
                    <a:pt x="1257300" y="411480"/>
                  </a:lnTo>
                  <a:cubicBezTo>
                    <a:pt x="1257300" y="436730"/>
                    <a:pt x="1236830" y="457200"/>
                    <a:pt x="1211580" y="457200"/>
                  </a:cubicBezTo>
                  <a:lnTo>
                    <a:pt x="45720" y="457200"/>
                  </a:lnTo>
                  <a:cubicBezTo>
                    <a:pt x="20470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4A6CF7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257300" cy="495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287500" y="4381500"/>
            <a:ext cx="771525" cy="342900"/>
            <a:chOff x="0" y="0"/>
            <a:chExt cx="1028700" cy="4572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28700" cy="457200"/>
            </a:xfrm>
            <a:custGeom>
              <a:avLst/>
              <a:gdLst/>
              <a:ahLst/>
              <a:cxnLst/>
              <a:rect l="l" t="t" r="r" b="b"/>
              <a:pathLst>
                <a:path w="1028700" h="457200">
                  <a:moveTo>
                    <a:pt x="45720" y="0"/>
                  </a:moveTo>
                  <a:lnTo>
                    <a:pt x="982980" y="0"/>
                  </a:lnTo>
                  <a:cubicBezTo>
                    <a:pt x="1008231" y="0"/>
                    <a:pt x="1028700" y="20470"/>
                    <a:pt x="1028700" y="45720"/>
                  </a:cubicBezTo>
                  <a:lnTo>
                    <a:pt x="1028700" y="411480"/>
                  </a:lnTo>
                  <a:cubicBezTo>
                    <a:pt x="1028700" y="436730"/>
                    <a:pt x="1008230" y="457200"/>
                    <a:pt x="982980" y="457200"/>
                  </a:cubicBezTo>
                  <a:lnTo>
                    <a:pt x="45720" y="457200"/>
                  </a:lnTo>
                  <a:cubicBezTo>
                    <a:pt x="20470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7B93FA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028700" cy="495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4287500" y="5143500"/>
            <a:ext cx="533400" cy="342900"/>
            <a:chOff x="0" y="0"/>
            <a:chExt cx="711200" cy="4572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11200" cy="457200"/>
            </a:xfrm>
            <a:custGeom>
              <a:avLst/>
              <a:gdLst/>
              <a:ahLst/>
              <a:cxnLst/>
              <a:rect l="l" t="t" r="r" b="b"/>
              <a:pathLst>
                <a:path w="711200" h="457200">
                  <a:moveTo>
                    <a:pt x="45720" y="0"/>
                  </a:moveTo>
                  <a:lnTo>
                    <a:pt x="665480" y="0"/>
                  </a:lnTo>
                  <a:cubicBezTo>
                    <a:pt x="690730" y="0"/>
                    <a:pt x="711200" y="20470"/>
                    <a:pt x="711200" y="45720"/>
                  </a:cubicBezTo>
                  <a:lnTo>
                    <a:pt x="711200" y="411480"/>
                  </a:lnTo>
                  <a:cubicBezTo>
                    <a:pt x="711200" y="436730"/>
                    <a:pt x="690730" y="457200"/>
                    <a:pt x="665480" y="457200"/>
                  </a:cubicBezTo>
                  <a:lnTo>
                    <a:pt x="45720" y="457200"/>
                  </a:lnTo>
                  <a:cubicBezTo>
                    <a:pt x="20470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B8C6FD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711200" cy="495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489701" y="7284793"/>
            <a:ext cx="3747258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8"/>
              </a:lnSpc>
            </a:pPr>
            <a:r>
              <a:rPr lang="en-US" sz="1498" b="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Doğu Bölgesi: 2.847 Sipariş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287500" y="3219450"/>
            <a:ext cx="19050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Batı — 3203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287500" y="3981450"/>
            <a:ext cx="19050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Doğu — 2847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287500" y="4743450"/>
            <a:ext cx="19050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Merkez — 2320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287500" y="5505450"/>
            <a:ext cx="19050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Güney — 1618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489701" y="7971924"/>
            <a:ext cx="3974296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8"/>
              </a:lnSpc>
            </a:pPr>
            <a:r>
              <a:rPr lang="en-US" sz="1498" b="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Merkez Bölgesi: 2.320 Sipariş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89701" y="8659055"/>
            <a:ext cx="3974296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8"/>
              </a:lnSpc>
            </a:pPr>
            <a:r>
              <a:rPr lang="en-US" sz="1498" b="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Güney Bölgesi: 1.618 Sipariş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307092"/>
            <a:ext cx="11150688" cy="4237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46"/>
              </a:lnSpc>
            </a:pPr>
            <a:r>
              <a:rPr lang="en-US" sz="8866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SORUN ANALIZI:</a:t>
            </a:r>
          </a:p>
          <a:p>
            <a:pPr marL="0" lvl="0" indent="0" algn="l">
              <a:lnSpc>
                <a:spcPts val="8246"/>
              </a:lnSpc>
            </a:pPr>
            <a:r>
              <a:rPr lang="en-US" sz="8866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MOBILYA</a:t>
            </a:r>
          </a:p>
          <a:p>
            <a:pPr marL="0" lvl="0" indent="0" algn="l">
              <a:lnSpc>
                <a:spcPts val="8246"/>
              </a:lnSpc>
            </a:pPr>
            <a:r>
              <a:rPr lang="en-US" sz="8866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KATEGORISINDEKI</a:t>
            </a:r>
          </a:p>
          <a:p>
            <a:pPr marL="0" lvl="0" indent="0" algn="l">
              <a:lnSpc>
                <a:spcPts val="8246"/>
              </a:lnSpc>
            </a:pPr>
            <a:r>
              <a:rPr lang="en-US" sz="8866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KAYIP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990600"/>
            <a:ext cx="2893128" cy="586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9"/>
              </a:lnSpc>
              <a:spcBef>
                <a:spcPct val="0"/>
              </a:spcBef>
            </a:pPr>
            <a:r>
              <a:rPr lang="en-US" sz="1663" b="1">
                <a:solidFill>
                  <a:srgbClr val="2B4AE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E-TICARET PERFORMANS ANALIZI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918575"/>
            <a:ext cx="3410809" cy="291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9"/>
              </a:lnSpc>
              <a:spcBef>
                <a:spcPct val="0"/>
              </a:spcBef>
            </a:pPr>
            <a:r>
              <a:rPr lang="en-US" sz="1663" b="1">
                <a:solidFill>
                  <a:srgbClr val="2B4AE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SORUN ANALIZI</a:t>
            </a: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4844004" y="6823019"/>
            <a:ext cx="6112398" cy="2435281"/>
            <a:chOff x="0" y="0"/>
            <a:chExt cx="1609850" cy="6413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09850" cy="641391"/>
            </a:xfrm>
            <a:custGeom>
              <a:avLst/>
              <a:gdLst/>
              <a:ahLst/>
              <a:cxnLst/>
              <a:rect l="l" t="t" r="r" b="b"/>
              <a:pathLst>
                <a:path w="1609850" h="641391">
                  <a:moveTo>
                    <a:pt x="0" y="0"/>
                  </a:moveTo>
                  <a:lnTo>
                    <a:pt x="1609850" y="0"/>
                  </a:lnTo>
                  <a:lnTo>
                    <a:pt x="1609850" y="641391"/>
                  </a:lnTo>
                  <a:lnTo>
                    <a:pt x="0" y="64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09850" cy="66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1146902" y="6823019"/>
            <a:ext cx="6112398" cy="2435281"/>
            <a:chOff x="0" y="0"/>
            <a:chExt cx="1609850" cy="6413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09850" cy="641391"/>
            </a:xfrm>
            <a:custGeom>
              <a:avLst/>
              <a:gdLst/>
              <a:ahLst/>
              <a:cxnLst/>
              <a:rect l="l" t="t" r="r" b="b"/>
              <a:pathLst>
                <a:path w="1609850" h="641391">
                  <a:moveTo>
                    <a:pt x="0" y="0"/>
                  </a:moveTo>
                  <a:lnTo>
                    <a:pt x="1609850" y="0"/>
                  </a:lnTo>
                  <a:lnTo>
                    <a:pt x="1609850" y="641391"/>
                  </a:lnTo>
                  <a:lnTo>
                    <a:pt x="0" y="64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609850" cy="66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5121353" y="7077412"/>
            <a:ext cx="1034227" cy="103422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4A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LV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5400000">
            <a:off x="11424251" y="7077412"/>
            <a:ext cx="1034227" cy="103422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4A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LV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448509" y="7956158"/>
            <a:ext cx="4230543" cy="75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Büyük hacimli ürünlerin taşıma ve depolama maliyetleri, satış gelirini aşmaktadır. Lojistik giderlerin optimizasyonu kritik öneme sahiptir.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51407" y="7956158"/>
            <a:ext cx="4230543" cy="75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Uygulanan yüksek indirim oranları, brüt kâr marjını olumsuz etkilemektedir. Mobilya kategorisi net zararı: -420$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48509" y="7126685"/>
            <a:ext cx="4230543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95"/>
              </a:lnSpc>
            </a:pPr>
            <a:r>
              <a:rPr lang="en-US" sz="1829" b="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Yüksek Lojistik Maliyetleri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751407" y="7126685"/>
            <a:ext cx="2972883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95"/>
              </a:lnSpc>
            </a:pPr>
            <a:r>
              <a:rPr lang="en-US" sz="1829" b="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Aşırı İndirim Oranları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00443" y="7437362"/>
            <a:ext cx="47604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95"/>
              </a:lnSpc>
            </a:pPr>
            <a:r>
              <a:rPr lang="en-US" sz="1829" b="1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703341" y="7437362"/>
            <a:ext cx="47604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95"/>
              </a:lnSpc>
            </a:pPr>
            <a:r>
              <a:rPr lang="en-US" sz="1829" b="1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02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5175404" y="5860497"/>
            <a:ext cx="2083896" cy="772022"/>
            <a:chOff x="0" y="0"/>
            <a:chExt cx="548845" cy="20333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48845" cy="203331"/>
            </a:xfrm>
            <a:custGeom>
              <a:avLst/>
              <a:gdLst/>
              <a:ahLst/>
              <a:cxnLst/>
              <a:rect l="l" t="t" r="r" b="b"/>
              <a:pathLst>
                <a:path w="548845" h="203331">
                  <a:moveTo>
                    <a:pt x="0" y="0"/>
                  </a:moveTo>
                  <a:lnTo>
                    <a:pt x="548845" y="0"/>
                  </a:lnTo>
                  <a:lnTo>
                    <a:pt x="548845" y="203331"/>
                  </a:lnTo>
                  <a:lnTo>
                    <a:pt x="0" y="203331"/>
                  </a:ln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548845" cy="250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6455746" y="6132603"/>
            <a:ext cx="481904" cy="227809"/>
          </a:xfrm>
          <a:custGeom>
            <a:avLst/>
            <a:gdLst/>
            <a:ahLst/>
            <a:cxnLst/>
            <a:rect l="l" t="t" r="r" b="b"/>
            <a:pathLst>
              <a:path w="481904" h="227809">
                <a:moveTo>
                  <a:pt x="0" y="0"/>
                </a:moveTo>
                <a:lnTo>
                  <a:pt x="481904" y="0"/>
                </a:lnTo>
                <a:lnTo>
                  <a:pt x="481904" y="227810"/>
                </a:lnTo>
                <a:lnTo>
                  <a:pt x="0" y="227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V"/>
          </a:p>
        </p:txBody>
      </p:sp>
      <p:sp>
        <p:nvSpPr>
          <p:cNvPr id="27" name="TextBox 27"/>
          <p:cNvSpPr txBox="1"/>
          <p:nvPr/>
        </p:nvSpPr>
        <p:spPr>
          <a:xfrm>
            <a:off x="15542114" y="6117920"/>
            <a:ext cx="364354" cy="23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98"/>
              </a:lnSpc>
              <a:spcBef>
                <a:spcPct val="0"/>
              </a:spcBef>
            </a:pPr>
            <a:r>
              <a:rPr lang="en-US" sz="149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9006" y="2109570"/>
            <a:ext cx="9257605" cy="4456574"/>
            <a:chOff x="0" y="0"/>
            <a:chExt cx="2438217" cy="11737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217" cy="1173748"/>
            </a:xfrm>
            <a:custGeom>
              <a:avLst/>
              <a:gdLst/>
              <a:ahLst/>
              <a:cxnLst/>
              <a:rect l="l" t="t" r="r" b="b"/>
              <a:pathLst>
                <a:path w="2438217" h="1173748">
                  <a:moveTo>
                    <a:pt x="0" y="0"/>
                  </a:moveTo>
                  <a:lnTo>
                    <a:pt x="2438217" y="0"/>
                  </a:lnTo>
                  <a:lnTo>
                    <a:pt x="2438217" y="1173748"/>
                  </a:lnTo>
                  <a:lnTo>
                    <a:pt x="0" y="11737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438217" cy="1221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766726"/>
            <a:ext cx="7939301" cy="338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50"/>
              </a:lnSpc>
            </a:pPr>
            <a:r>
              <a:rPr lang="en-US" sz="940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STRATEJIK</a:t>
            </a:r>
          </a:p>
          <a:p>
            <a:pPr marL="0" lvl="0" indent="0" algn="l">
              <a:lnSpc>
                <a:spcPts val="8750"/>
              </a:lnSpc>
            </a:pPr>
            <a:r>
              <a:rPr lang="en-US" sz="940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YOL HARITASI</a:t>
            </a:r>
          </a:p>
          <a:p>
            <a:pPr marL="0" lvl="0" indent="0" algn="l">
              <a:lnSpc>
                <a:spcPts val="8750"/>
              </a:lnSpc>
            </a:pPr>
            <a:r>
              <a:rPr lang="en-US" sz="940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VE ÖNERILER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000125"/>
            <a:ext cx="2893128" cy="305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78"/>
              </a:lnSpc>
              <a:spcBef>
                <a:spcPct val="0"/>
              </a:spcBef>
            </a:pPr>
            <a:r>
              <a:rPr lang="en-US" sz="1841" b="1">
                <a:solidFill>
                  <a:srgbClr val="2B4AE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E-TICARET ANALIZI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928100"/>
            <a:ext cx="3410809" cy="305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78"/>
              </a:lnSpc>
              <a:spcBef>
                <a:spcPct val="0"/>
              </a:spcBef>
            </a:pPr>
            <a:r>
              <a:rPr lang="en-US" sz="1841" b="1">
                <a:solidFill>
                  <a:srgbClr val="2B4AE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STRATEJIK ÇÖZÜM ÖNERILERI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493259" y="0"/>
            <a:ext cx="5794741" cy="10287000"/>
            <a:chOff x="0" y="0"/>
            <a:chExt cx="7726321" cy="13716000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/>
            <a:srcRect l="587" r="587"/>
            <a:stretch>
              <a:fillRect/>
            </a:stretch>
          </p:blipFill>
          <p:spPr>
            <a:xfrm>
              <a:off x="0" y="0"/>
              <a:ext cx="7726321" cy="137160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rot="-10800000">
            <a:off x="10888753" y="1300078"/>
            <a:ext cx="6112398" cy="2435281"/>
            <a:chOff x="0" y="0"/>
            <a:chExt cx="1609850" cy="6413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09850" cy="641391"/>
            </a:xfrm>
            <a:custGeom>
              <a:avLst/>
              <a:gdLst/>
              <a:ahLst/>
              <a:cxnLst/>
              <a:rect l="l" t="t" r="r" b="b"/>
              <a:pathLst>
                <a:path w="1609850" h="641391">
                  <a:moveTo>
                    <a:pt x="0" y="0"/>
                  </a:moveTo>
                  <a:lnTo>
                    <a:pt x="1609850" y="0"/>
                  </a:lnTo>
                  <a:lnTo>
                    <a:pt x="1609850" y="641391"/>
                  </a:lnTo>
                  <a:lnTo>
                    <a:pt x="0" y="64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609850" cy="66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10888753" y="3925859"/>
            <a:ext cx="6112398" cy="2435281"/>
            <a:chOff x="0" y="0"/>
            <a:chExt cx="1609850" cy="64139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09850" cy="641391"/>
            </a:xfrm>
            <a:custGeom>
              <a:avLst/>
              <a:gdLst/>
              <a:ahLst/>
              <a:cxnLst/>
              <a:rect l="l" t="t" r="r" b="b"/>
              <a:pathLst>
                <a:path w="1609850" h="641391">
                  <a:moveTo>
                    <a:pt x="0" y="0"/>
                  </a:moveTo>
                  <a:lnTo>
                    <a:pt x="1609850" y="0"/>
                  </a:lnTo>
                  <a:lnTo>
                    <a:pt x="1609850" y="641391"/>
                  </a:lnTo>
                  <a:lnTo>
                    <a:pt x="0" y="64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609850" cy="66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5400000">
            <a:off x="11166103" y="1554471"/>
            <a:ext cx="1034227" cy="1034227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4A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LV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5400000">
            <a:off x="11166103" y="4180252"/>
            <a:ext cx="1034227" cy="1034227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4A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LV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2493259" y="2433217"/>
            <a:ext cx="4230543" cy="1009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Zarar eden mobilya kalemlerinde fiyatlandırma stratejisi yeniden değerlendirilmeli; aşırı indirim oranları ve yüksek lojistik maliyetleri göz önünde bulundurularak kârlılık hedeflenmeli.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493259" y="5058998"/>
            <a:ext cx="4230543" cy="1009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Teknoloji kategorisindeki kârlı ürünlerin (Cisco IP Phone, WD My Passport vb.) stok seviyeleri artırılarak satış hacmi ve kâr marjı optimize edilmelidir.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493259" y="1584694"/>
            <a:ext cx="2872709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30"/>
              </a:lnSpc>
            </a:pPr>
            <a:r>
              <a:rPr lang="en-US" sz="2025" b="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Mobilya Fiyat Revizyonu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493259" y="4210475"/>
            <a:ext cx="4230543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30"/>
              </a:lnSpc>
            </a:pPr>
            <a:r>
              <a:rPr lang="en-US" sz="2025" b="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Teknoloji Stok Seviyelerinin Artırılması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45193" y="1895372"/>
            <a:ext cx="476046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01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45193" y="4521153"/>
            <a:ext cx="476046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02</a:t>
            </a:r>
          </a:p>
        </p:txBody>
      </p:sp>
      <p:grpSp>
        <p:nvGrpSpPr>
          <p:cNvPr id="28" name="Group 28"/>
          <p:cNvGrpSpPr/>
          <p:nvPr/>
        </p:nvGrpSpPr>
        <p:grpSpPr>
          <a:xfrm rot="-10800000">
            <a:off x="10888753" y="6551641"/>
            <a:ext cx="6112398" cy="2435281"/>
            <a:chOff x="0" y="0"/>
            <a:chExt cx="1609850" cy="64139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609850" cy="641391"/>
            </a:xfrm>
            <a:custGeom>
              <a:avLst/>
              <a:gdLst/>
              <a:ahLst/>
              <a:cxnLst/>
              <a:rect l="l" t="t" r="r" b="b"/>
              <a:pathLst>
                <a:path w="1609850" h="641391">
                  <a:moveTo>
                    <a:pt x="0" y="0"/>
                  </a:moveTo>
                  <a:lnTo>
                    <a:pt x="1609850" y="0"/>
                  </a:lnTo>
                  <a:lnTo>
                    <a:pt x="1609850" y="641391"/>
                  </a:lnTo>
                  <a:lnTo>
                    <a:pt x="0" y="64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1609850" cy="66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 rot="5400000">
            <a:off x="11166103" y="6806033"/>
            <a:ext cx="1034227" cy="1034227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4A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LV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2493259" y="7684780"/>
            <a:ext cx="4230543" cy="1009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8"/>
              </a:lnSpc>
            </a:pPr>
            <a:r>
              <a:rPr lang="en-US" sz="14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düşük sipariş hacmine sahip Güney bölgesinde (1.618 sipariş) hedefli pazarlama ve operasyonel genişleme çalışmaları başlatılarak pazar payı artırılmalıdır.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493259" y="6836256"/>
            <a:ext cx="2872709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30"/>
              </a:lnSpc>
            </a:pPr>
            <a:r>
              <a:rPr lang="en-US" sz="2025" b="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Güney Bölgesi Pazar Genişletme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45193" y="7146934"/>
            <a:ext cx="476046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03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7512716" y="8486278"/>
            <a:ext cx="2083896" cy="772022"/>
            <a:chOff x="0" y="0"/>
            <a:chExt cx="548845" cy="20333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48845" cy="203331"/>
            </a:xfrm>
            <a:custGeom>
              <a:avLst/>
              <a:gdLst/>
              <a:ahLst/>
              <a:cxnLst/>
              <a:rect l="l" t="t" r="r" b="b"/>
              <a:pathLst>
                <a:path w="548845" h="203331">
                  <a:moveTo>
                    <a:pt x="0" y="0"/>
                  </a:moveTo>
                  <a:lnTo>
                    <a:pt x="548845" y="0"/>
                  </a:lnTo>
                  <a:lnTo>
                    <a:pt x="548845" y="203331"/>
                  </a:lnTo>
                  <a:lnTo>
                    <a:pt x="0" y="203331"/>
                  </a:ln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548845" cy="250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40" name="Freeform 40"/>
          <p:cNvSpPr/>
          <p:nvPr/>
        </p:nvSpPr>
        <p:spPr>
          <a:xfrm>
            <a:off x="8793058" y="8758385"/>
            <a:ext cx="481904" cy="227809"/>
          </a:xfrm>
          <a:custGeom>
            <a:avLst/>
            <a:gdLst/>
            <a:ahLst/>
            <a:cxnLst/>
            <a:rect l="l" t="t" r="r" b="b"/>
            <a:pathLst>
              <a:path w="481904" h="227809">
                <a:moveTo>
                  <a:pt x="0" y="0"/>
                </a:moveTo>
                <a:lnTo>
                  <a:pt x="481904" y="0"/>
                </a:lnTo>
                <a:lnTo>
                  <a:pt x="481904" y="227809"/>
                </a:lnTo>
                <a:lnTo>
                  <a:pt x="0" y="227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V"/>
          </a:p>
        </p:txBody>
      </p:sp>
      <p:sp>
        <p:nvSpPr>
          <p:cNvPr id="41" name="TextBox 41"/>
          <p:cNvSpPr txBox="1"/>
          <p:nvPr/>
        </p:nvSpPr>
        <p:spPr>
          <a:xfrm>
            <a:off x="7879425" y="8743702"/>
            <a:ext cx="364354" cy="23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98"/>
              </a:lnSpc>
              <a:spcBef>
                <a:spcPct val="0"/>
              </a:spcBef>
            </a:pPr>
            <a:r>
              <a:rPr lang="en-US" sz="149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335667"/>
            <a:ext cx="8547147" cy="2284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50"/>
              </a:lnSpc>
            </a:pPr>
            <a:r>
              <a:rPr lang="en-US" sz="9409" b="1">
                <a:solidFill>
                  <a:srgbClr val="2B4AEF"/>
                </a:solidFill>
                <a:latin typeface="DM Sans Bold"/>
                <a:ea typeface="DM Sans Bold"/>
                <a:cs typeface="DM Sans Bold"/>
                <a:sym typeface="DM Sans Bold"/>
              </a:rPr>
              <a:t>SONUÇ VE</a:t>
            </a:r>
          </a:p>
          <a:p>
            <a:pPr marL="0" lvl="0" indent="0" algn="l">
              <a:lnSpc>
                <a:spcPts val="8750"/>
              </a:lnSpc>
            </a:pPr>
            <a:r>
              <a:rPr lang="en-US" sz="9409" b="1">
                <a:solidFill>
                  <a:srgbClr val="2B4AEF"/>
                </a:solidFill>
                <a:latin typeface="DM Sans Bold"/>
                <a:ea typeface="DM Sans Bold"/>
                <a:cs typeface="DM Sans Bold"/>
                <a:sym typeface="DM Sans Bold"/>
              </a:rPr>
              <a:t>İLETIŞIM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990600"/>
            <a:ext cx="2893128" cy="586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9"/>
              </a:lnSpc>
              <a:spcBef>
                <a:spcPct val="0"/>
              </a:spcBef>
            </a:pPr>
            <a:r>
              <a:rPr lang="en-US" sz="1663" b="1">
                <a:solidFill>
                  <a:srgbClr val="2B4AE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E-TICARET PERFORMANS ANALIZI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918575"/>
            <a:ext cx="4294480" cy="291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9"/>
              </a:lnSpc>
              <a:spcBef>
                <a:spcPct val="0"/>
              </a:spcBef>
            </a:pPr>
            <a:r>
              <a:rPr lang="en-US" sz="1663" b="1">
                <a:solidFill>
                  <a:srgbClr val="2B4AE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STRATEJIK İNCELEME RAPORU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175404" y="1028700"/>
            <a:ext cx="2083896" cy="772022"/>
            <a:chOff x="0" y="0"/>
            <a:chExt cx="548845" cy="2033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8845" cy="203331"/>
            </a:xfrm>
            <a:custGeom>
              <a:avLst/>
              <a:gdLst/>
              <a:ahLst/>
              <a:cxnLst/>
              <a:rect l="l" t="t" r="r" b="b"/>
              <a:pathLst>
                <a:path w="548845" h="203331">
                  <a:moveTo>
                    <a:pt x="0" y="0"/>
                  </a:moveTo>
                  <a:lnTo>
                    <a:pt x="548845" y="0"/>
                  </a:lnTo>
                  <a:lnTo>
                    <a:pt x="548845" y="203331"/>
                  </a:lnTo>
                  <a:lnTo>
                    <a:pt x="0" y="203331"/>
                  </a:lnTo>
                  <a:close/>
                </a:path>
              </a:pathLst>
            </a:custGeom>
            <a:solidFill>
              <a:srgbClr val="2B4AE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48845" cy="250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455746" y="1300806"/>
            <a:ext cx="481904" cy="227809"/>
          </a:xfrm>
          <a:custGeom>
            <a:avLst/>
            <a:gdLst/>
            <a:ahLst/>
            <a:cxnLst/>
            <a:rect l="l" t="t" r="r" b="b"/>
            <a:pathLst>
              <a:path w="481904" h="227809">
                <a:moveTo>
                  <a:pt x="0" y="0"/>
                </a:moveTo>
                <a:lnTo>
                  <a:pt x="481904" y="0"/>
                </a:lnTo>
                <a:lnTo>
                  <a:pt x="481904" y="227809"/>
                </a:lnTo>
                <a:lnTo>
                  <a:pt x="0" y="227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V"/>
          </a:p>
        </p:txBody>
      </p:sp>
      <p:sp>
        <p:nvSpPr>
          <p:cNvPr id="9" name="TextBox 9"/>
          <p:cNvSpPr txBox="1"/>
          <p:nvPr/>
        </p:nvSpPr>
        <p:spPr>
          <a:xfrm>
            <a:off x="15542114" y="1267073"/>
            <a:ext cx="364354" cy="233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34"/>
              </a:lnSpc>
              <a:spcBef>
                <a:spcPct val="0"/>
              </a:spcBef>
            </a:pPr>
            <a:r>
              <a:rPr lang="en-US" sz="131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880683" y="5357586"/>
            <a:ext cx="9407317" cy="4929414"/>
            <a:chOff x="0" y="0"/>
            <a:chExt cx="12543089" cy="6572553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3"/>
            <a:srcRect t="449" b="449"/>
            <a:stretch>
              <a:fillRect/>
            </a:stretch>
          </p:blipFill>
          <p:spPr>
            <a:xfrm>
              <a:off x="0" y="0"/>
              <a:ext cx="12543089" cy="6572553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10315190" y="3053799"/>
            <a:ext cx="5409100" cy="3673060"/>
            <a:chOff x="0" y="0"/>
            <a:chExt cx="1424619" cy="9673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24619" cy="967390"/>
            </a:xfrm>
            <a:custGeom>
              <a:avLst/>
              <a:gdLst/>
              <a:ahLst/>
              <a:cxnLst/>
              <a:rect l="l" t="t" r="r" b="b"/>
              <a:pathLst>
                <a:path w="1424619" h="967390">
                  <a:moveTo>
                    <a:pt x="0" y="0"/>
                  </a:moveTo>
                  <a:lnTo>
                    <a:pt x="1424619" y="0"/>
                  </a:lnTo>
                  <a:lnTo>
                    <a:pt x="1424619" y="967390"/>
                  </a:lnTo>
                  <a:lnTo>
                    <a:pt x="0" y="9673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V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424619" cy="1015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1278910" y="5294014"/>
            <a:ext cx="345108" cy="345108"/>
          </a:xfrm>
          <a:custGeom>
            <a:avLst/>
            <a:gdLst/>
            <a:ahLst/>
            <a:cxnLst/>
            <a:rect l="l" t="t" r="r" b="b"/>
            <a:pathLst>
              <a:path w="345108" h="345108">
                <a:moveTo>
                  <a:pt x="0" y="0"/>
                </a:moveTo>
                <a:lnTo>
                  <a:pt x="345108" y="0"/>
                </a:lnTo>
                <a:lnTo>
                  <a:pt x="345108" y="345108"/>
                </a:lnTo>
                <a:lnTo>
                  <a:pt x="0" y="3451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V"/>
          </a:p>
        </p:txBody>
      </p:sp>
      <p:sp>
        <p:nvSpPr>
          <p:cNvPr id="16" name="Freeform 16"/>
          <p:cNvSpPr/>
          <p:nvPr/>
        </p:nvSpPr>
        <p:spPr>
          <a:xfrm>
            <a:off x="11278910" y="5887760"/>
            <a:ext cx="356046" cy="356046"/>
          </a:xfrm>
          <a:custGeom>
            <a:avLst/>
            <a:gdLst/>
            <a:ahLst/>
            <a:cxnLst/>
            <a:rect l="l" t="t" r="r" b="b"/>
            <a:pathLst>
              <a:path w="356046" h="356046">
                <a:moveTo>
                  <a:pt x="0" y="0"/>
                </a:moveTo>
                <a:lnTo>
                  <a:pt x="356046" y="0"/>
                </a:lnTo>
                <a:lnTo>
                  <a:pt x="356046" y="356046"/>
                </a:lnTo>
                <a:lnTo>
                  <a:pt x="0" y="3560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V"/>
          </a:p>
        </p:txBody>
      </p:sp>
      <p:sp>
        <p:nvSpPr>
          <p:cNvPr id="17" name="TextBox 17"/>
          <p:cNvSpPr txBox="1"/>
          <p:nvPr/>
        </p:nvSpPr>
        <p:spPr>
          <a:xfrm>
            <a:off x="11849916" y="5313064"/>
            <a:ext cx="2028621" cy="257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24"/>
              </a:lnSpc>
            </a:pPr>
            <a:r>
              <a:rPr lang="en-US" sz="187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+371 22415175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849916" y="5912279"/>
            <a:ext cx="3285946" cy="257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24"/>
              </a:lnSpc>
            </a:pPr>
            <a:r>
              <a:rPr lang="en-US" sz="187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fatih20042@hotmail.com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85795" y="3773076"/>
            <a:ext cx="3867890" cy="690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4"/>
              </a:lnSpc>
              <a:spcBef>
                <a:spcPct val="0"/>
              </a:spcBef>
            </a:pPr>
            <a:r>
              <a:rPr lang="en-US" sz="131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Sorularınız için bizimle iletişime geçmekten çekinmeyin. Stratejik adımlarımızı birlikte hayata geçirmeye hazırız.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5319486"/>
            <a:ext cx="4973439" cy="690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4"/>
              </a:lnSpc>
              <a:spcBef>
                <a:spcPct val="0"/>
              </a:spcBef>
            </a:pPr>
            <a:r>
              <a:rPr lang="en-US" sz="131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Performansımızı artırmak için belirlenen stratejik adımlarla sürdürülebilir büyümeye odaklanıyoruz. Katkılarınız ve ilginiz için teşekkür ederiz.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511</Words>
  <Application>Microsoft Macintosh PowerPoint</Application>
  <PresentationFormat>Custom</PresentationFormat>
  <Paragraphs>109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Open Sans</vt:lpstr>
      <vt:lpstr>DM Sans Bold</vt:lpstr>
      <vt:lpstr>Open Sans Bold</vt:lpstr>
      <vt:lpstr>Open Sans Semi-Bold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E-Ticaret Performans Analizi Sunumu</dc:title>
  <cp:lastModifiedBy>Fatih Niyazoglu</cp:lastModifiedBy>
  <cp:revision>2</cp:revision>
  <dcterms:created xsi:type="dcterms:W3CDTF">2006-08-16T00:00:00Z</dcterms:created>
  <dcterms:modified xsi:type="dcterms:W3CDTF">2026-07-06T09:00:31Z</dcterms:modified>
  <dc:identifier>DAHOb3z4Kfc</dc:identifier>
</cp:coreProperties>
</file>